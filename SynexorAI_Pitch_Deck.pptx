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(€K)</c:v>
                </c:pt>
              </c:strCache>
            </c:strRef>
          </c:tx>
          <c:spPr>
            <a:solidFill>
              <a:srgbClr val="7FBCD2"/>
            </a:solidFill>
          </c:spPr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480</c:v>
                </c:pt>
                <c:pt idx="2">
                  <c:v>1400</c:v>
                </c:pt>
                <c:pt idx="3">
                  <c:v>3200</c:v>
                </c:pt>
                <c:pt idx="4">
                  <c:v>6500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SynexorAI is building the future of intelligent logistics orchestration. This deck presents our vision for investors and our first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logistics industry is plagued by inefficiency. Companies still rely on emails, phone calls, and spreadsheets to manage millions in transport spend. This creates delays, cost overruns, and zero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TMS market is projected to reach $28.4B by 2030. Our serviceable market in European automotive and manufacturing is $4.8B. With focused execution, we target $120M achievable within 5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how most logistics teams operate today. Excel, email, phone calls. No integration, no visibility, no control. SynexorAI replaces this chaos with an intelligent, centralized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SynexorAI covers the entire transport lifecycle: Plan, Execute, Track, Optimize. One platform replaces 5-10 disconnected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is modular. Customers can start with transport planning and tracking, then expand to cost analytics and AI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real operational flow. From the moment an order drops, through planning, booking, tracking, delivery confirmation, to post-delivery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not generic features. Each one solves a real operational problem we've seen firsthand in automotive and manufacturing logistics.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dashboards show real operational KPIs. Not vanity metrics, but the numbers that logistics managers and CFOs actually need to make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conservative estimates based on industry benchmarks and our operational experience. The payback period is typically 4-6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combine deep operational supply chain knowledge with modern SaaS architecture. Legacy TMS solutions take 6-12 months to implement. We do it in 4-8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don't replace your ERP. We plug into it. REST APIs, EDI standards, pre-built connectors for SAP, Oracle, and major carrier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roadmap is practical and phased. We prove value at single-site, then scale. The ultimate vision is a global supply chain control tower powered by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go-to-market is focused. Automotive and manufacturing first, because that's where we have domain expertise and relationships. We prove value with pilots, then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SaaS subscription model with three tiers. Implementation fees provide initial revenue while MRR scales. Average contract value target is 42K EUR annually.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Conservative growth projections. Year 1 is about proving product-market fit with 5 customers. By Year 3 we target 60 customers and EUR 1.4M ARR, reaching break-even.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raising a EUR 750K seed round. 45% goes to product, 25% to sales. Clear milestones: 5 paying customers and EUR 120K ARR within 18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reasons to invest now. The market is timing perfectly, AI makes our product 10x better, we have founder-market fit, and the competition hasn't caught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operators first. Our founder has spent 10+ years in automotive logistics. We understand the day-to-day reality of transport planning because we've done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pilot is designed to prove value fast. 8 weeks, 1 plant, clear KPIs. Low risk, high visibility. If it works, we expand. If it doesn't, you walk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vision. Not just another TMS. An intelligent orchestration platform that makes every shipment smarter, every route optimal, and every decision data-informed.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clear calls to action. For investors: join our seed round. For customers: start a pilot. Both are low risk, high reward. Let's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2286010" cy="32004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2286000"/>
            <a:ext cx="2286010" cy="32004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2286010" cy="32004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2286000"/>
            <a:ext cx="2286010" cy="32004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SYNEXOR</a:t>
            </a:r>
            <a:r>
              <a:rPr sz="4400" b="1">
                <a:solidFill>
                  <a:srgbClr val="E8366D"/>
                </a:solidFill>
                <a:latin typeface="Arial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1460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0">
                <a:solidFill>
                  <a:srgbClr val="9CA3AF"/>
                </a:solidFill>
                <a:latin typeface="Arial"/>
              </a:defRPr>
            </a:pPr>
            <a:r>
              <a:t>AI-Powered Transportation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0">
                <a:solidFill>
                  <a:srgbClr val="9CA3AF"/>
                </a:solidFill>
                <a:latin typeface="Arial"/>
              </a:defRPr>
            </a:pPr>
            <a:r>
              <a:t>&amp; Supply Chain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6B7280"/>
                </a:solidFill>
                <a:latin typeface="Arial"/>
              </a:defRPr>
            </a:pPr>
            <a:r>
              <a:t>Investor &amp; Customer Presentation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6B7280"/>
                </a:solidFill>
                <a:latin typeface="Arial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t>Transportation Is Broken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CA3AF"/>
                </a:solidFill>
                <a:latin typeface="Arial"/>
              </a:defRPr>
            </a:pPr>
            <a:r>
              <a:t>Logistics teams waste 30% of their time on manual coordination,</a:t>
            </a:r>
            <a:br/>
            <a:r>
              <a:t>while transport costs continue to rise unchecked.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560320" cy="118872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4864" cy="118872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No Real-Time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60320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70% of shipments lack live tracking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011680"/>
            <a:ext cx="2560320" cy="118872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011680"/>
            <a:ext cx="54864" cy="118872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1945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Manual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Excel-based scheduling, phone coordination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2560320" cy="118872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54864" cy="118872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Rising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Logistics costs up 23% in 3 years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2560320" cy="118872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54864" cy="1188720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6118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Late Deliveries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977639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15% average delay rate in supply chains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3429000"/>
            <a:ext cx="2560320" cy="118872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29000" y="3429000"/>
            <a:ext cx="54864" cy="118872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36118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Data Fragmentation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977639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5+ disconnected systems per company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429000"/>
            <a:ext cx="2560320" cy="118872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429000"/>
            <a:ext cx="54864" cy="118872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6118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No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39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Decisions made on gut feeling, not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A Massive Market Ready</a:t>
            </a:r>
            <a:br/>
            <a:r>
              <a:t>for Disruption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560320" cy="15544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4864" cy="155448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7FBCD2"/>
                </a:solidFill>
                <a:latin typeface="Arial"/>
              </a:defRPr>
            </a:pPr>
            <a:r>
              <a:t>$28.4B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Global TMS Market</a:t>
            </a:r>
            <a:br/>
            <a:r>
              <a:t>by 2030 (CAGR 14.2%)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560320" cy="15544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54864" cy="155448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78308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E8366D"/>
                </a:solidFill>
                <a:latin typeface="Arial"/>
              </a:defRPr>
            </a:pPr>
            <a:r>
              <a:t>$4.8B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60320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European Automotive</a:t>
            </a:r>
            <a:br/>
            <a:r>
              <a:t>&amp; Manufacturing TMS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2560320" cy="15544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45920"/>
            <a:ext cx="54864" cy="155448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78308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E8A87C"/>
                </a:solidFill>
                <a:latin typeface="Arial"/>
              </a:defRPr>
            </a:pPr>
            <a:r>
              <a:t>$120M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60320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Achievable Market</a:t>
            </a:r>
            <a:br/>
            <a:r>
              <a:t>within 5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74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E8366D"/>
                </a:solidFill>
                <a:latin typeface="Arial"/>
              </a:defRPr>
            </a:pPr>
            <a:r>
              <a:t>KEY GROWTH DRIVERS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9CA3AF"/>
                </a:solidFill>
                <a:latin typeface="Arial"/>
              </a:defRPr>
            </a:pPr>
            <a:r>
              <a:t>Digital transformation accelerating post-COVID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CA3AF"/>
                </a:solidFill>
                <a:latin typeface="Arial"/>
              </a:defRPr>
            </a:pPr>
            <a:r>
              <a:t>AI/ML adoption in supply chain operations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CA3AF"/>
                </a:solidFill>
                <a:latin typeface="Arial"/>
              </a:defRPr>
            </a:pPr>
            <a:r>
              <a:t>Rising demand for real-time visibility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CA3AF"/>
                </a:solidFill>
                <a:latin typeface="Arial"/>
              </a:defRPr>
            </a:pPr>
            <a:r>
              <a:t>Regulatory pressure for CO2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CURRENT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How Companies Operate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E8366D"/>
                </a:solidFill>
                <a:latin typeface="Arial"/>
              </a:defRPr>
            </a:pPr>
            <a:r>
              <a:t>WITHOUT SynexorAI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✗  Planning done in Excel spreadsheets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✗  Carrier booking via email and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✗  No live shipment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43784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✗  Manual KPI reporting (if any)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27832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✗  Reactive problem-solving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✗  Cost overruns discovered too 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9592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✗  No deviation alerts or approvals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7FBCD2"/>
                </a:solidFill>
                <a:latin typeface="Arial"/>
              </a:defRPr>
            </a:pPr>
            <a:r>
              <a:t>WITH SynexorAI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6916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✓  Centralized transport planning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7568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✓  Automated carrier assignment &amp;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59736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✓  Real-time GPS tracking &amp; 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843784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✓  Live dashboards with 15+ KPIs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227832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✓  Proactive AI 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611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✓  Cost analytics and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99592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✓  Automated deviation workflow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371600"/>
            <a:ext cx="18288" cy="301752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t>One Platform. Total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CA3AF"/>
                </a:solidFill>
                <a:latin typeface="Arial"/>
              </a:defRPr>
            </a:pPr>
            <a:r>
              <a:t>SynexorAI is a cloud-based Transportation Management System</a:t>
            </a:r>
            <a:br/>
            <a:r>
              <a:t>that gives logistics teams complete visibility, automation, and intelligence.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7FBCD2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Intelligent transport</a:t>
            </a:r>
            <a:br/>
            <a:r>
              <a:t>planning &amp; scheduling</a:t>
            </a:r>
          </a:p>
        </p:txBody>
      </p:sp>
      <p:sp>
        <p:nvSpPr>
          <p:cNvPr id="10" name="Oval 9"/>
          <p:cNvSpPr/>
          <p:nvPr/>
        </p:nvSpPr>
        <p:spPr>
          <a:xfrm>
            <a:off x="2788920" y="2103120"/>
            <a:ext cx="502920" cy="502920"/>
          </a:xfrm>
          <a:prstGeom prst="ellipse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2176272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4320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E8366D"/>
                </a:solidFill>
                <a:latin typeface="Arial"/>
              </a:defRPr>
            </a:pPr>
            <a:r>
              <a:t>EXECUTE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06324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Automated carrier</a:t>
            </a:r>
            <a:br/>
            <a:r>
              <a:t>assignment &amp; booking</a:t>
            </a:r>
          </a:p>
        </p:txBody>
      </p:sp>
      <p:sp>
        <p:nvSpPr>
          <p:cNvPr id="14" name="Oval 13"/>
          <p:cNvSpPr/>
          <p:nvPr/>
        </p:nvSpPr>
        <p:spPr>
          <a:xfrm>
            <a:off x="4937760" y="2103120"/>
            <a:ext cx="502920" cy="5029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176272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74320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E8A87C"/>
                </a:solidFill>
                <a:latin typeface="Arial"/>
              </a:defRPr>
            </a:pPr>
            <a: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06324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Real-time visibility</a:t>
            </a:r>
            <a:br/>
            <a:r>
              <a:t>&amp; deviation alerts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0" y="2103120"/>
            <a:ext cx="502920" cy="502920"/>
          </a:xfrm>
          <a:prstGeom prst="ellipse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176272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74320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5B1A2A"/>
                </a:solidFill>
                <a:latin typeface="Arial"/>
              </a:defRPr>
            </a:pPr>
            <a:r>
              <a:t>OPTIMIZE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06324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Data-driven cost</a:t>
            </a:r>
            <a:br/>
            <a:r>
              <a:t>&amp; route optimization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304288"/>
            <a:ext cx="914400" cy="1371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0440" y="2304288"/>
            <a:ext cx="914400" cy="1371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0" y="2304288"/>
            <a:ext cx="914400" cy="1371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4023360"/>
            <a:ext cx="2286010" cy="2286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0" y="4023360"/>
            <a:ext cx="2286010" cy="2286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4023360"/>
            <a:ext cx="2286010" cy="2286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4023360"/>
            <a:ext cx="2286010" cy="22860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0624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6B7280"/>
                </a:solidFill>
                <a:latin typeface="Arial"/>
              </a:defRPr>
            </a:pPr>
            <a:r>
              <a:t>End-to-end orchestration from order to delivery to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Modular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560320" cy="13716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4864" cy="137160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Transport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103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Route plans, scheduling,</a:t>
            </a:r>
            <a:br/>
            <a:r>
              <a:t>carrier matching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2560320" cy="13716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54864" cy="137160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Carrier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103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Rate comparison, booking,</a:t>
            </a:r>
            <a:br/>
            <a:r>
              <a:t>performance tracking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560320" cy="13716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864" cy="13716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544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Live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2103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GPS integration, ETA,</a:t>
            </a:r>
            <a:br/>
            <a:r>
              <a:t>deviation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17520"/>
            <a:ext cx="2560320" cy="13716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017520"/>
            <a:ext cx="54864" cy="137160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004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KPI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66160"/>
            <a:ext cx="2103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15+ metrics, drill-down,</a:t>
            </a:r>
            <a:br/>
            <a:r>
              <a:t>automated reports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017520"/>
            <a:ext cx="2560320" cy="13716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3017520"/>
            <a:ext cx="54864" cy="137160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2004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Cost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566160"/>
            <a:ext cx="2103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Spend analysis, savings</a:t>
            </a:r>
            <a:br/>
            <a:r>
              <a:t>opportunities, forecasting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2560320" cy="13716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017520"/>
            <a:ext cx="54864" cy="13716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2004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Digital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66160"/>
            <a:ext cx="2103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Approval flows, POD,</a:t>
            </a:r>
            <a:br/>
            <a:r>
              <a:t>document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OPERATIONAL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From Order to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54480"/>
            <a:ext cx="1234440" cy="20116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54480"/>
            <a:ext cx="54864" cy="201168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7FBCD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960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960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Demand signal</a:t>
            </a:r>
            <a:br/>
            <a:r>
              <a:t>from ERP/WMS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73352" y="1554480"/>
            <a:ext cx="1234440" cy="20116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73352" y="1554480"/>
            <a:ext cx="54864" cy="201168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16916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E8366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103120"/>
            <a:ext cx="960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2423160"/>
            <a:ext cx="960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AI-matched</a:t>
            </a:r>
            <a:br/>
            <a:r>
              <a:t>route &amp; carrier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8104" y="1554480"/>
            <a:ext cx="1234440" cy="20116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18104" y="1554480"/>
            <a:ext cx="54864" cy="201168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4" y="16916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E8A87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5264" y="2103120"/>
            <a:ext cx="960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5264" y="2423160"/>
            <a:ext cx="960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Automated carrier</a:t>
            </a:r>
            <a:br/>
            <a:r>
              <a:t>assignment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2856" y="1554480"/>
            <a:ext cx="1234440" cy="20116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62856" y="1554480"/>
            <a:ext cx="54864" cy="201168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0016" y="16916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7FBCD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2103120"/>
            <a:ext cx="960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TRACK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2423160"/>
            <a:ext cx="960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Real-time GPS</a:t>
            </a:r>
            <a:br/>
            <a:r>
              <a:t>&amp; ETA updates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07608" y="1554480"/>
            <a:ext cx="1234440" cy="20116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07608" y="1554480"/>
            <a:ext cx="54864" cy="201168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16916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E8366D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2103120"/>
            <a:ext cx="960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DELIVER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2423160"/>
            <a:ext cx="960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POD capture</a:t>
            </a:r>
            <a:br/>
            <a:r>
              <a:t>&amp; confirmation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1554480"/>
            <a:ext cx="1234440" cy="20116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60" y="1554480"/>
            <a:ext cx="54864" cy="201168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16916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E8A87C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103120"/>
            <a:ext cx="960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ANALYZE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2423160"/>
            <a:ext cx="9601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Cost &amp; performance</a:t>
            </a:r>
            <a:br/>
            <a:r>
              <a:t>analytics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91640" y="2468880"/>
            <a:ext cx="137160" cy="18288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54680" y="2468880"/>
            <a:ext cx="137160" cy="18288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17720" y="2468880"/>
            <a:ext cx="137160" cy="18288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0760" y="2468880"/>
            <a:ext cx="137160" cy="18288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43800" y="2468880"/>
            <a:ext cx="137160" cy="18288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FBCD2"/>
                </a:solidFill>
                <a:latin typeface="Arial"/>
              </a:defRPr>
            </a:pPr>
            <a:r>
              <a:t>Average cycle: Order received to delivery confirmed in under 48 hours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389120"/>
            <a:ext cx="2286010" cy="2286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4389120"/>
            <a:ext cx="2286010" cy="2286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4389120"/>
            <a:ext cx="2286010" cy="2286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0" y="4389120"/>
            <a:ext cx="2286010" cy="22860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Built for Operations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353312"/>
            <a:ext cx="109728" cy="109728"/>
          </a:xfrm>
          <a:prstGeom prst="ellipse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Route Plan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Match suppliers to optimal routes with day-code scheduling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1353312"/>
            <a:ext cx="109728" cy="109728"/>
          </a:xfrm>
          <a:prstGeom prst="ellipse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2801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Carrier Auto-Assignment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60020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AI matches the right carrier based on cost, service, and capacity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221991"/>
            <a:ext cx="109728" cy="109728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39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Deviation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79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Automatic alerts when shipments deviate from plan, with approval workflows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0" y="2221991"/>
            <a:ext cx="109728" cy="109728"/>
          </a:xfrm>
          <a:prstGeom prst="ellipse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148839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Truck Utilization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468879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Volume, weight, and pallet calculations with stackability levels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090672"/>
            <a:ext cx="109728" cy="109728"/>
          </a:xfrm>
          <a:prstGeom prst="ellipse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0175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Real-Time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3756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GPS integration for live shipment visibility and ETA prediction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0" y="3090672"/>
            <a:ext cx="109728" cy="109728"/>
          </a:xfrm>
          <a:prstGeom prst="ellipse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30175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Cost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33756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Breakdown transport costs by route, carrier, mode, and period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959352"/>
            <a:ext cx="109728" cy="109728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8862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KPI Dashboards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0624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On-time delivery, fill rate, cost per shipment, CO2 tracking</a:t>
            </a:r>
          </a:p>
        </p:txBody>
      </p:sp>
      <p:sp>
        <p:nvSpPr>
          <p:cNvPr id="26" name="Oval 25"/>
          <p:cNvSpPr/>
          <p:nvPr/>
        </p:nvSpPr>
        <p:spPr>
          <a:xfrm>
            <a:off x="4846320" y="3959352"/>
            <a:ext cx="109728" cy="109728"/>
          </a:xfrm>
          <a:prstGeom prst="ellipse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38862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ERP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20624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Seamless connection to SAP, Oracle, and other enterprise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DASHBOARD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Data-Driven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508760" cy="118872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" cy="118872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 i="0">
                <a:solidFill>
                  <a:srgbClr val="7FBCD2"/>
                </a:solidFill>
                <a:latin typeface="Arial"/>
              </a:defRPr>
            </a:pPr>
            <a:r>
              <a:t>94.1%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188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On-Time</a:t>
            </a:r>
            <a:br/>
            <a:r>
              <a:t>Delivery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371600"/>
            <a:ext cx="1508760" cy="118872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48840" y="1371600"/>
            <a:ext cx="54864" cy="118872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46304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 i="0">
                <a:solidFill>
                  <a:srgbClr val="E8366D"/>
                </a:solidFill>
                <a:latin typeface="Arial"/>
              </a:defRPr>
            </a:pPr>
            <a:r>
              <a:t>€847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920240"/>
            <a:ext cx="1188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Avg Cost</a:t>
            </a:r>
            <a:br/>
            <a:r>
              <a:t>per Shipment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371600"/>
            <a:ext cx="1508760" cy="118872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0" y="1371600"/>
            <a:ext cx="54864" cy="118872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146304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 i="0">
                <a:solidFill>
                  <a:srgbClr val="E8A87C"/>
                </a:solidFill>
                <a:latin typeface="Arial"/>
              </a:defRPr>
            </a:pPr>
            <a:r>
              <a:t>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920240"/>
            <a:ext cx="1188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Fleet</a:t>
            </a:r>
            <a:br/>
            <a:r>
              <a:t>Utilization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1371600"/>
            <a:ext cx="1508760" cy="118872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32120" y="1371600"/>
            <a:ext cx="54864" cy="1188720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46304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 i="0">
                <a:solidFill>
                  <a:srgbClr val="5B1A2A"/>
                </a:solidFill>
                <a:latin typeface="Arial"/>
              </a:defRPr>
            </a:pPr>
            <a:r>
              <a:t>2.4d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1920240"/>
            <a:ext cx="1188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Avg Transit</a:t>
            </a:r>
            <a:br/>
            <a:r>
              <a:t>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371600"/>
            <a:ext cx="1508760" cy="118872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1371600"/>
            <a:ext cx="54864" cy="118872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46304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 i="0">
                <a:solidFill>
                  <a:srgbClr val="7FBCD2"/>
                </a:solidFill>
                <a:latin typeface="Arial"/>
              </a:defRPr>
            </a:pPr>
            <a:r>
              <a:t>-12%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920240"/>
            <a:ext cx="1188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CO2</a:t>
            </a:r>
            <a:br/>
            <a:r>
              <a:t>Reduction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8803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E8366D"/>
                </a:solidFill>
                <a:latin typeface="Arial"/>
              </a:defRPr>
            </a:pPr>
            <a:r>
              <a:t>ANALYTICS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Carrier performance scoring &amp;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11296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Delay root cause analysis by route, carrier, and weekday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822191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Transport cost trends and forecasting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33087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Utilization optimization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43984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CO2 emissions tracking and sustainability 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ROI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11118"/>
                </a:solidFill>
                <a:latin typeface="Arial"/>
              </a:defRPr>
            </a:pPr>
            <a:r>
              <a:t>Measurable Value from Day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920240" cy="36576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554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E8366D"/>
                </a:solidFill>
                <a:latin typeface="Arial"/>
              </a:defRPr>
            </a:pPr>
            <a:r>
              <a:t>-18%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554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111118"/>
                </a:solidFill>
                <a:latin typeface="Arial"/>
              </a:defRPr>
            </a:pPr>
            <a:r>
              <a:t>Transport</a:t>
            </a:r>
            <a:br/>
            <a:r>
              <a:t>Cost Reduction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3716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371600"/>
            <a:ext cx="1920240" cy="36576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508760"/>
            <a:ext cx="1554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7FBCD2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57400"/>
            <a:ext cx="1554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111118"/>
                </a:solidFill>
                <a:latin typeface="Arial"/>
              </a:defRPr>
            </a:pPr>
            <a:r>
              <a:t>Manual Planning</a:t>
            </a:r>
            <a:br/>
            <a:r>
              <a:t>Time Saved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3716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371600"/>
            <a:ext cx="1920240" cy="36576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508760"/>
            <a:ext cx="1554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E8A87C"/>
                </a:solidFill>
                <a:latin typeface="Arial"/>
              </a:defRPr>
            </a:pPr>
            <a:r>
              <a:t>+35%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057400"/>
            <a:ext cx="1554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111118"/>
                </a:solidFill>
                <a:latin typeface="Arial"/>
              </a:defRPr>
            </a:pPr>
            <a:r>
              <a:t>On-Time Delivery</a:t>
            </a:r>
            <a:br/>
            <a:r>
              <a:t>Improvement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3716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1371600"/>
            <a:ext cx="1920240" cy="36576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508760"/>
            <a:ext cx="1554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5B1A2A"/>
                </a:solidFill>
                <a:latin typeface="Arial"/>
              </a:defRPr>
            </a:pPr>
            <a:r>
              <a:t>3x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057400"/>
            <a:ext cx="15544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111118"/>
                </a:solidFill>
                <a:latin typeface="Arial"/>
              </a:defRPr>
            </a:pPr>
            <a:r>
              <a:t>Faster Issue</a:t>
            </a:r>
            <a:br/>
            <a:r>
              <a:t>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00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>
                <a:solidFill>
                  <a:srgbClr val="E8366D"/>
                </a:solidFill>
                <a:latin typeface="Arial"/>
              </a:defRPr>
            </a:pPr>
            <a:r>
              <a:t>EXPECTED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111118"/>
                </a:solidFill>
                <a:latin typeface="Arial"/>
              </a:defRPr>
            </a:pPr>
            <a:r>
              <a:t>✓  Payback period: 4-6 months after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13048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111118"/>
                </a:solidFill>
                <a:latin typeface="Arial"/>
              </a:defRPr>
            </a:pPr>
            <a:r>
              <a:t>✓  Average annual savings: €150K-500K per 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05656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111118"/>
                </a:solidFill>
                <a:latin typeface="Arial"/>
              </a:defRPr>
            </a:pPr>
            <a:r>
              <a:t>✓  Total cost of inaction: €2M+ per year in inefficiency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98264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111118"/>
                </a:solidFill>
                <a:latin typeface="Arial"/>
              </a:defRPr>
            </a:pPr>
            <a:r>
              <a:t>✓  Pilot proves value within 8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9CA3AF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Why SynexorAI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9CA3AF"/>
                </a:solidFill>
                <a:latin typeface="Arial"/>
              </a:defRPr>
            </a:pPr>
            <a:r>
              <a:t>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801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SynexorAI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801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9CA3AF"/>
                </a:solidFill>
                <a:latin typeface="Arial"/>
              </a:defRPr>
            </a:pPr>
            <a:r>
              <a:t>Legacy TMS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2801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9CA3AF"/>
                </a:solidFill>
                <a:latin typeface="Arial"/>
              </a:defRPr>
            </a:pPr>
            <a:r>
              <a:t>Generic SaaS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72768"/>
            <a:ext cx="8229600" cy="1371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Implementation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6459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4-8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459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6-12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2-4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8483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Operational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08483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Deep logistics DNA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8483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Complex, rigid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08483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Surface-level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23744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AI 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523744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Built-in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523744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Add-on / 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523744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Basic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62656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Real-Time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962656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Native GPS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962656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Third-party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962656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Limited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0156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40156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SaaS affordable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40156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Enterprise $$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40156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Mid-range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404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User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8404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7FBCD2"/>
                </a:solidFill>
                <a:latin typeface="Arial"/>
              </a:defRPr>
            </a:pPr>
            <a:r>
              <a:t>Modern, intuitive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8404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Dated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8404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Generic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Connects to Your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CA3AF"/>
                </a:solidFill>
                <a:latin typeface="Arial"/>
              </a:defRPr>
            </a:pPr>
            <a:r>
              <a:t>SynexorAI integrates seamlessly with your existing enterprise systems</a:t>
            </a:r>
            <a:br/>
            <a:r>
              <a:t>via REST APIs, EDI, and standard connectors.</a:t>
            </a:r>
          </a:p>
        </p:txBody>
      </p:sp>
      <p:sp>
        <p:nvSpPr>
          <p:cNvPr id="6" name="Oval 5"/>
          <p:cNvSpPr/>
          <p:nvPr/>
        </p:nvSpPr>
        <p:spPr>
          <a:xfrm>
            <a:off x="3657600" y="2286000"/>
            <a:ext cx="1828800" cy="1828800"/>
          </a:xfrm>
          <a:prstGeom prst="ellipse">
            <a:avLst/>
          </a:prstGeom>
          <a:solidFill>
            <a:srgbClr val="22222E"/>
          </a:solidFill>
          <a:ln w="25400">
            <a:solidFill>
              <a:srgbClr val="E8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Synexor</a:t>
            </a:r>
            <a:r>
              <a:rPr sz="1300" b="1">
                <a:solidFill>
                  <a:srgbClr val="E8366D"/>
                </a:solidFill>
                <a:latin typeface="Arial"/>
              </a:rPr>
              <a:t>AI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1645920" cy="914400"/>
          </a:xfrm>
          <a:prstGeom prst="rect">
            <a:avLst/>
          </a:prstGeom>
          <a:solidFill>
            <a:srgbClr val="22222E"/>
          </a:solidFill>
          <a:ln w="12700">
            <a:solidFill>
              <a:srgbClr val="7FB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7FBCD2"/>
                </a:solidFill>
                <a:latin typeface="Arial"/>
              </a:defRPr>
            </a:pPr>
            <a:r>
              <a:t>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9CA3AF"/>
                </a:solidFill>
                <a:latin typeface="Arial"/>
              </a:defRPr>
            </a:pPr>
            <a:r>
              <a:t>SAP, Oracle,</a:t>
            </a:r>
            <a:br/>
            <a:r>
              <a:t>MS Dynamics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74720"/>
            <a:ext cx="1645920" cy="914400"/>
          </a:xfrm>
          <a:prstGeom prst="rect">
            <a:avLst/>
          </a:prstGeom>
          <a:solidFill>
            <a:srgbClr val="22222E"/>
          </a:solidFill>
          <a:ln w="12700">
            <a:solidFill>
              <a:srgbClr val="E8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E8366D"/>
                </a:solidFill>
                <a:latin typeface="Arial"/>
              </a:defRPr>
            </a:pPr>
            <a:r>
              <a:t>WMS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9CA3AF"/>
                </a:solidFill>
                <a:latin typeface="Arial"/>
              </a:defRPr>
            </a:pPr>
            <a:r>
              <a:t>Warehouse</a:t>
            </a:r>
            <a:br/>
            <a:r>
              <a:t>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1645920" cy="914400"/>
          </a:xfrm>
          <a:prstGeom prst="rect">
            <a:avLst/>
          </a:prstGeom>
          <a:solidFill>
            <a:srgbClr val="22222E"/>
          </a:solidFill>
          <a:ln w="127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E8A87C"/>
                </a:solidFill>
                <a:latin typeface="Arial"/>
              </a:defRPr>
            </a:pPr>
            <a:r>
              <a:t>GPS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9CA3AF"/>
                </a:solidFill>
                <a:latin typeface="Arial"/>
              </a:defRPr>
            </a:pPr>
            <a:r>
              <a:t>Telematics</a:t>
            </a:r>
            <a:br/>
            <a:r>
              <a:t>&amp;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474720"/>
            <a:ext cx="1645920" cy="914400"/>
          </a:xfrm>
          <a:prstGeom prst="rect">
            <a:avLst/>
          </a:prstGeom>
          <a:solidFill>
            <a:srgbClr val="22222E"/>
          </a:solidFill>
          <a:ln w="12700">
            <a:solidFill>
              <a:srgbClr val="5B1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5661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5B1A2A"/>
                </a:solidFill>
                <a:latin typeface="Arial"/>
              </a:defRPr>
            </a:pPr>
            <a:r>
              <a:t>Carrier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8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9CA3AF"/>
                </a:solidFill>
                <a:latin typeface="Arial"/>
              </a:defRPr>
            </a:pPr>
            <a:r>
              <a:t>EDI / API</a:t>
            </a:r>
            <a:br/>
            <a:r>
              <a:t>Connectors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4297680"/>
            <a:ext cx="1645920" cy="914400"/>
          </a:xfrm>
          <a:prstGeom prst="rect">
            <a:avLst/>
          </a:prstGeom>
          <a:solidFill>
            <a:srgbClr val="22222E"/>
          </a:solidFill>
          <a:ln w="12700">
            <a:solidFill>
              <a:srgbClr val="7FB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43891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7FBCD2"/>
                </a:solidFill>
                <a:latin typeface="Arial"/>
              </a:defRPr>
            </a:pPr>
            <a:r>
              <a:t>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6634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9CA3AF"/>
                </a:solidFill>
                <a:latin typeface="Arial"/>
              </a:defRPr>
            </a:pPr>
            <a:r>
              <a:t>Manufacturing</a:t>
            </a:r>
            <a:br/>
            <a:r>
              <a:t>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SCALABILITY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From Single Site to</a:t>
            </a:r>
            <a:br/>
            <a:r>
              <a:t>Global Control Tower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965960" cy="22860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" cy="228600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7FBCD2"/>
                </a:solidFill>
                <a:latin typeface="Arial"/>
              </a:defRPr>
            </a:pPr>
            <a:r>
              <a:t>PHASE 1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Single-Site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Core TMS, carrier mgmt,</a:t>
            </a:r>
            <a:br/>
            <a:r>
              <a:t>tracking, basic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645920"/>
            <a:ext cx="1965960" cy="22860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645920"/>
            <a:ext cx="54864" cy="228600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7373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E8366D"/>
                </a:solidFill>
                <a:latin typeface="Arial"/>
              </a:defRPr>
            </a:pPr>
            <a:r>
              <a:t>PHASE 2  | 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116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Multi-Site 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7744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Cross-plant visibility,</a:t>
            </a:r>
            <a:br/>
            <a:r>
              <a:t>advanced KPIs, cost optim.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45920"/>
            <a:ext cx="1965960" cy="22860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645920"/>
            <a:ext cx="54864" cy="22860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7373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E8A87C"/>
                </a:solidFill>
                <a:latin typeface="Arial"/>
              </a:defRPr>
            </a:pPr>
            <a:r>
              <a:t>PHASE 3  |  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0116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AI-Powered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37744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Predictive logistics, auto</a:t>
            </a:r>
            <a:br/>
            <a:r>
              <a:t>routing, demand forecasting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79" y="1645920"/>
            <a:ext cx="1965960" cy="22860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79" y="1645920"/>
            <a:ext cx="54864" cy="2286000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17373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>
                <a:solidFill>
                  <a:srgbClr val="5B1A2A"/>
                </a:solidFill>
                <a:latin typeface="Arial"/>
              </a:defRPr>
            </a:pPr>
            <a:r>
              <a:t>PHASE 4  |  2029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20116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Control Tower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237744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Global visibility, multi-modal,</a:t>
            </a:r>
            <a:br/>
            <a:r>
              <a:t>full supply chain orchestration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160520"/>
            <a:ext cx="2286010" cy="27432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0" y="4160520"/>
            <a:ext cx="2286010" cy="27432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4160520"/>
            <a:ext cx="228601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4160520"/>
            <a:ext cx="2286010" cy="27432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6B7280"/>
                </a:solidFill>
                <a:latin typeface="Arial"/>
              </a:defRPr>
            </a:pPr>
            <a:r>
              <a:t>Each phase builds on proven operational value from the previous 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Land, Prove, Expand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7FBCD2"/>
                </a:solidFill>
                <a:latin typeface="Arial"/>
              </a:defRPr>
            </a:pPr>
            <a:r>
              <a:t>TARGET VERTICALS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Automotive Tier 1-2 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4831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Industrial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32304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3PL 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9776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Distribution companies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37160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SALES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Founder-led sales (Year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84831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Pilot-first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32304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Reference customer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79776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Industry events &amp; logistics fairs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A87C"/>
                </a:solidFill>
                <a:latin typeface="Arial"/>
              </a:defRPr>
            </a:pPr>
            <a:r>
              <a:t>EXPANSION 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Land with 1 plant, expand to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84831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Add premium analytics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32304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Partner with ERP integrators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9776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Geographic expansion: DACH 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383280"/>
            <a:ext cx="54864" cy="91440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TARGET: 5 paying customers in Year 1  |  25 customers by Year 2  |  100+ by Year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11118"/>
                </a:solidFill>
                <a:latin typeface="Arial"/>
              </a:defRPr>
            </a:pPr>
            <a:r>
              <a:t>Recurring Revenue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51760" cy="36576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7FBCD2"/>
                </a:solidFill>
                <a:latin typeface="Arial"/>
              </a:defRPr>
            </a:pPr>
            <a: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111118"/>
                </a:solidFill>
                <a:latin typeface="Arial"/>
              </a:defRPr>
            </a:pPr>
            <a:r>
              <a:t>€1,500/mo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6B7280"/>
                </a:solidFill>
                <a:latin typeface="Arial"/>
              </a:defRPr>
            </a:pPr>
            <a:r>
              <a:t>Up to 500 shipments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Transport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157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Basic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08376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5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00984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Standard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2801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280160"/>
            <a:ext cx="2651760" cy="36576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4173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PROFESSIONAL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69164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111118"/>
                </a:solidFill>
                <a:latin typeface="Arial"/>
              </a:defRPr>
            </a:pPr>
            <a:r>
              <a:t>€3,500/mo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10312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6B7280"/>
                </a:solidFill>
                <a:latin typeface="Arial"/>
              </a:defRPr>
            </a:pPr>
            <a:r>
              <a:t>Up to 2,000 shipments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23160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All Starter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157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Advanced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008376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20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300984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Priority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593591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API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2801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280160"/>
            <a:ext cx="2651760" cy="36576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4173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5B1A2A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69164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111118"/>
                </a:solidFill>
                <a:latin typeface="Arial"/>
              </a:defRPr>
            </a:pPr>
            <a:r>
              <a:t>Custom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10312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6B7280"/>
                </a:solidFill>
                <a:latin typeface="Arial"/>
              </a:defRPr>
            </a:pPr>
            <a:r>
              <a:t>Unlimited shipments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423160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All Professional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715768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AI recommendations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008376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Unlimited 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300984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Dedicated CSM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593591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111118"/>
                </a:solidFill>
                <a:latin typeface="Arial"/>
              </a:defRPr>
            </a:pPr>
            <a:r>
              <a:t>✓  Custom integrations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6B7280"/>
                </a:solidFill>
                <a:latin typeface="Arial"/>
              </a:defRPr>
            </a:pPr>
            <a:r>
              <a:t>Additional Revenue:  Implementation Fees  |  Premium Analytics Modules  |  Custom Integrations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9CA3AF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FINANCIAL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Path to Profitability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28016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0" y="1371600"/>
            <a:ext cx="2743200" cy="6400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54864" cy="64008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4173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€120K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19072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9CA3AF"/>
                </a:solidFill>
                <a:latin typeface="Arial"/>
              </a:defRPr>
            </a:pPr>
            <a:r>
              <a:t>Year 1 ARR  |  5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148840"/>
            <a:ext cx="2743200" cy="6400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148840"/>
            <a:ext cx="54864" cy="64008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€480K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96312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9CA3AF"/>
                </a:solidFill>
                <a:latin typeface="Arial"/>
              </a:defRPr>
            </a:pPr>
            <a:r>
              <a:t>Year 2 ARR  |  25 customers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926080"/>
            <a:ext cx="2743200" cy="6400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2926080"/>
            <a:ext cx="54864" cy="64008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97180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€1.4M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73552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9CA3AF"/>
                </a:solidFill>
                <a:latin typeface="Arial"/>
              </a:defRPr>
            </a:pPr>
            <a:r>
              <a:t>Year 3 ARR  |  60 customers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703320"/>
            <a:ext cx="2743200" cy="64008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703320"/>
            <a:ext cx="54864" cy="64008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749039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€6.5M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050791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9CA3AF"/>
                </a:solidFill>
                <a:latin typeface="Arial"/>
              </a:defRPr>
            </a:pPr>
            <a:r>
              <a:t>Year 5 ARR  |  200+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6B7280"/>
                </a:solidFill>
                <a:latin typeface="Arial"/>
              </a:defRPr>
            </a:pPr>
            <a:r>
              <a:t>Assumptions: 15% monthly churn, 42K avg ACV, 80% gross margin, break-even at Year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INVESTMENT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t>Seed Round: €750K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7FBCD2"/>
                </a:solidFill>
                <a:latin typeface="Arial"/>
              </a:defRPr>
            </a:pPr>
            <a:r>
              <a:t>USE OF FUNDS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645920" cy="27432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  Product Development  (45%)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71907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9CA3AF"/>
                </a:solidFill>
                <a:latin typeface="Arial"/>
              </a:defRPr>
            </a:pPr>
            <a:r>
              <a:t>€337K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914400" cy="27432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2199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  Sales &amp; Marketing  (25%)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219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9CA3AF"/>
                </a:solidFill>
                <a:latin typeface="Arial"/>
              </a:defRPr>
            </a:pPr>
            <a:r>
              <a:t>€187K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731520" cy="27432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2491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  Operations &amp; Team  (20%)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2491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9CA3AF"/>
                </a:solidFill>
                <a:latin typeface="Arial"/>
              </a:defRPr>
            </a:pPr>
            <a:r>
              <a:t>€150K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365760" cy="274320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2783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  Infrastructure  (10%)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2783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9CA3AF"/>
                </a:solidFill>
                <a:latin typeface="Arial"/>
              </a:defRPr>
            </a:pPr>
            <a:r>
              <a:t>€75K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3716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18-MONTH MILESTONES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7373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◉  5 paying enterprise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1214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◉  Product-market fit validated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50545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◉  €120K ARR achieved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889504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◉  Team scaled to 8 people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27355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◉  Series A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t>The Window Is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863840" cy="77724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4864" cy="77724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7FBCD2"/>
                </a:solidFill>
                <a:latin typeface="Arial"/>
              </a:defRPr>
            </a:pPr>
            <a:r>
              <a:t>Market Timing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Post-COVID supply chain digitalization is accelerating. Companies are actively budgeting for TMS solutions. The legacy vendors are slow to innovate.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863840" cy="77724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4864" cy="77724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E8366D"/>
                </a:solidFill>
                <a:latin typeface="Arial"/>
              </a:defRPr>
            </a:pPr>
            <a:r>
              <a:t>AI Inflection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Generative AI and predictive analytics are now practical for logistics. First movers who embed AI into transport ops will capture the market.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7863840" cy="77724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54864" cy="7772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5468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E8A87C"/>
                </a:solidFill>
                <a:latin typeface="Arial"/>
              </a:defRPr>
            </a:pPr>
            <a:r>
              <a:t>Founder-Market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4728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Deep operational experience in automotive supply chain. We've lived the pain, built the relationships, and know exactly what logistics teams need.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77639"/>
            <a:ext cx="7863840" cy="77724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54864" cy="777240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79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5B1A2A"/>
                </a:solidFill>
                <a:latin typeface="Arial"/>
              </a:defRPr>
            </a:pPr>
            <a:r>
              <a:t>Low Competition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61687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Legacy TMS vendors are enterprise-only. Modern SaaS alternatives lack logistics depth. The mid-market is wide open.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Built by Operators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1371600"/>
            <a:ext cx="1097280" cy="1097280"/>
          </a:xfrm>
          <a:prstGeom prst="ellipse">
            <a:avLst/>
          </a:prstGeom>
          <a:solidFill>
            <a:srgbClr val="22222E"/>
          </a:solidFill>
          <a:ln w="25400">
            <a:solidFill>
              <a:srgbClr val="7FB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7FBCD2"/>
                </a:solidFill>
                <a:latin typeface="Arial"/>
              </a:defRPr>
            </a:pPr>
            <a:r>
              <a:t>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[Your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10+ years in automotive supply chain</a:t>
            </a:r>
            <a:br/>
            <a:r>
              <a:t>and logistics operations. Led transport</a:t>
            </a:r>
            <a:br/>
            <a:r>
              <a:t>optimization at Tier 1 supplier.</a:t>
            </a:r>
          </a:p>
        </p:txBody>
      </p:sp>
      <p:sp>
        <p:nvSpPr>
          <p:cNvPr id="9" name="Oval 8"/>
          <p:cNvSpPr/>
          <p:nvPr/>
        </p:nvSpPr>
        <p:spPr>
          <a:xfrm>
            <a:off x="4114800" y="1371600"/>
            <a:ext cx="1097280" cy="1097280"/>
          </a:xfrm>
          <a:prstGeom prst="ellipse">
            <a:avLst/>
          </a:prstGeom>
          <a:solidFill>
            <a:srgbClr val="22222E"/>
          </a:solidFill>
          <a:ln w="25400">
            <a:solidFill>
              <a:srgbClr val="E8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6060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E8366D"/>
                </a:solidFill>
                <a:latin typeface="Arial"/>
              </a:defRPr>
            </a:pPr>
            <a:r>
              <a:t>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346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[Technical Co-Founder]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0040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Full-stack engineer with enterprise</a:t>
            </a:r>
            <a:br/>
            <a:r>
              <a:t>SaaS experience. Built scalable</a:t>
            </a:r>
            <a:br/>
            <a:r>
              <a:t>platforms serving 1000+ users.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0" y="1371600"/>
            <a:ext cx="1097280" cy="1097280"/>
          </a:xfrm>
          <a:prstGeom prst="ellipse">
            <a:avLst/>
          </a:prstGeom>
          <a:solidFill>
            <a:srgbClr val="22222E"/>
          </a:solidFill>
          <a:ln w="254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6060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E8A87C"/>
                </a:solidFill>
                <a:latin typeface="Arial"/>
              </a:defRPr>
            </a:pPr>
            <a:r>
              <a:t>Head of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346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[Product Lead]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9CA3AF"/>
                </a:solidFill>
                <a:latin typeface="Arial"/>
              </a:defRPr>
            </a:pPr>
            <a:r>
              <a:t>Logistics domain expert with</a:t>
            </a:r>
            <a:br/>
            <a:r>
              <a:t>management consulting background.</a:t>
            </a:r>
            <a:br/>
            <a:r>
              <a:t>McKinsey / Accenture alumni.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1">
                <a:solidFill>
                  <a:srgbClr val="6B7280"/>
                </a:solidFill>
                <a:latin typeface="Arial"/>
              </a:defRPr>
            </a:pPr>
            <a:r>
              <a:t>Advisory board includes logistics executives from BMW, Bosch, and DHL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PILOT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11118"/>
                </a:solidFill>
                <a:latin typeface="Arial"/>
              </a:defRPr>
            </a:pPr>
            <a:r>
              <a:t>Prove Value in 8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4864" cy="566928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7FBCD2"/>
                </a:solidFill>
                <a:latin typeface="Arial"/>
              </a:defRPr>
            </a:pPr>
            <a: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353312"/>
            <a:ext cx="6217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111118"/>
                </a:solidFill>
                <a:latin typeface="Arial"/>
              </a:defRPr>
            </a:pPr>
            <a:r>
              <a:t>1 plant, 1 transport lane, up to 200 shipments/month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54864" cy="566928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039112"/>
            <a:ext cx="6217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111118"/>
                </a:solidFill>
                <a:latin typeface="Arial"/>
              </a:defRPr>
            </a:pPr>
            <a:r>
              <a:t>Week 1-2: Setup &amp; integration  |  Week 3-6: Live operation  |  Week 7-8: Review &amp; ROI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51760"/>
            <a:ext cx="54864" cy="566928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249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A87C"/>
                </a:solidFill>
                <a:latin typeface="Arial"/>
              </a:defRPr>
            </a:pPr>
            <a:r>
              <a:t>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724912"/>
            <a:ext cx="6217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111118"/>
                </a:solidFill>
                <a:latin typeface="Arial"/>
              </a:defRPr>
            </a:pPr>
            <a:r>
              <a:t>On-time delivery improvement  |  Cost reduction per shipment  |  Planning time saved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37560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37560"/>
            <a:ext cx="54864" cy="566928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107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5B1A2A"/>
                </a:solidFill>
                <a:latin typeface="Arial"/>
              </a:defRPr>
            </a:pPr>
            <a: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410712"/>
            <a:ext cx="6217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111118"/>
                </a:solidFill>
                <a:latin typeface="Arial"/>
              </a:defRPr>
            </a:pPr>
            <a:r>
              <a:t>Dedicated implementation manager  |  Weekly check-ins  |  24/7 technical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23360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023360"/>
            <a:ext cx="54864" cy="566928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7FBCD2"/>
                </a:solidFill>
                <a:latin typeface="Arial"/>
              </a:defRPr>
            </a:pPr>
            <a:r>
              <a:t>SUCCESS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096512"/>
            <a:ext cx="6217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111118"/>
                </a:solidFill>
                <a:latin typeface="Arial"/>
              </a:defRPr>
            </a:pPr>
            <a:r>
              <a:t>Measurable ROI  |  User adoption &gt;80%  |  Executive stakeholder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6B7280"/>
                </a:solidFill>
                <a:latin typeface="Arial"/>
              </a:defRPr>
            </a:pPr>
            <a:r>
              <a:t>Pilot pricing: €2,500 one-time setup  +  €1,500/month  |  No long-term commitment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0">
                <a:solidFill>
                  <a:srgbClr val="9CA3AF"/>
                </a:solidFill>
                <a:latin typeface="Arial"/>
              </a:defRPr>
            </a:pPr>
            <a:r>
              <a:t>SYNEXORAI  |  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2286010" cy="32004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2011680"/>
            <a:ext cx="2286010" cy="32004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2011680"/>
            <a:ext cx="2286010" cy="32004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2011680"/>
            <a:ext cx="2286010" cy="32004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 i="1">
                <a:solidFill>
                  <a:srgbClr val="9CA3AF"/>
                </a:solidFill>
                <a:latin typeface="Arial"/>
              </a:defRPr>
            </a:pPr>
            <a:r>
              <a:t>The future of logistics isn't just digital.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 i="0">
                <a:solidFill>
                  <a:srgbClr val="7FBCD2"/>
                </a:solidFill>
                <a:latin typeface="Arial"/>
              </a:defRPr>
            </a:pPr>
            <a:r>
              <a:t>It's intelligent.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0">
                <a:solidFill>
                  <a:srgbClr val="FFFFFF"/>
                </a:solidFill>
                <a:latin typeface="Arial"/>
              </a:defRPr>
            </a:pPr>
            <a:r>
              <a:t>Every shipment optimized. Every route intelligent.</a:t>
            </a:r>
            <a:br/>
            <a:r>
              <a:t>Every decision data-driven.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SYNEXOR</a:t>
            </a:r>
            <a:r>
              <a:rPr sz="3600" b="1">
                <a:solidFill>
                  <a:srgbClr val="E8366D"/>
                </a:solidFill>
                <a:latin typeface="Arial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9CA3AF"/>
                </a:solidFill>
                <a:latin typeface="Arial"/>
              </a:defRPr>
            </a:pPr>
            <a:r>
              <a:t>Orchestrating the Future of Supply Chain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2286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 i="0">
                <a:solidFill>
                  <a:srgbClr val="E8366D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10" cy="36576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10" cy="36576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10" cy="36576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10" cy="36576"/>
          </a:xfrm>
          <a:prstGeom prst="rect">
            <a:avLst/>
          </a:prstGeom>
          <a:solidFill>
            <a:srgbClr val="5B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31520"/>
            <a:ext cx="7315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t>Let's Build the Future</a:t>
            </a:r>
            <a:br/>
            <a:r>
              <a:t>of Logistics Together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657600" cy="22860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4864" cy="2286000"/>
          </a:xfrm>
          <a:prstGeom prst="rect">
            <a:avLst/>
          </a:prstGeom>
          <a:solidFill>
            <a:srgbClr val="E8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E8366D"/>
                </a:solidFill>
                <a:latin typeface="Arial"/>
              </a:defRPr>
            </a:pPr>
            <a:r>
              <a:t>FOR INVESTORS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Join Our Seed 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€750K seed round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10x return potential in 5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28416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Join before market acceleration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2102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Schedule a deep-dive meeting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828800"/>
            <a:ext cx="3657600" cy="2286000"/>
          </a:xfrm>
          <a:prstGeom prst="rect">
            <a:avLst/>
          </a:prstGeom>
          <a:solidFill>
            <a:srgbClr val="2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828800"/>
            <a:ext cx="54864" cy="2286000"/>
          </a:xfrm>
          <a:prstGeom prst="rect">
            <a:avLst/>
          </a:prstGeom>
          <a:solidFill>
            <a:srgbClr val="7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7FBCD2"/>
                </a:solidFill>
                <a:latin typeface="Arial"/>
              </a:defRPr>
            </a:pPr>
            <a:r>
              <a:t>FOR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286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Start Your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7432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8-week proof of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03580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No long-term commitment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328416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Dedicated support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62102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CA3AF"/>
                </a:solidFill>
                <a:latin typeface="Arial"/>
              </a:defRPr>
            </a:pPr>
            <a:r>
              <a:t>▸  Schedule a live demo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7FBCD2"/>
                </a:solidFill>
                <a:latin typeface="Arial"/>
              </a:defRPr>
            </a:pPr>
            <a:r>
              <a:t>contact@synexorai.com  |  www.synexorai.com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7315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0">
                <a:solidFill>
                  <a:srgbClr val="6B7280"/>
                </a:solidFill>
                <a:latin typeface="Arial"/>
              </a:defRPr>
            </a:pPr>
            <a:r>
              <a:t>CONFIDENTIAL  |  © 2026 SynexorAI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